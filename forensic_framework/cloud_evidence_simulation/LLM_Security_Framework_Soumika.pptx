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C3D91"/>
          </a:solidFill>
          <a:ln w="12700">
            <a:solidFill>
              <a:srgbClr val="6C3D91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09728"/>
            <a:ext cx="1737360" cy="64922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-731520" y="3474720"/>
            <a:ext cx="3200400" cy="3200400"/>
          </a:xfrm>
          <a:prstGeom prst="ellipse">
            <a:avLst/>
          </a:prstGeom>
          <a:solidFill>
            <a:srgbClr val="E8D5F7">
              <a:alpha val="70000"/>
            </a:srgbClr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132320" y="-548640"/>
            <a:ext cx="2286000" cy="2286000"/>
          </a:xfrm>
          <a:prstGeom prst="ellipse">
            <a:avLst/>
          </a:prstGeom>
          <a:solidFill>
            <a:srgbClr val="E8D5F7">
              <a:alpha val="60000"/>
            </a:srgbClr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54864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B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Amrita Vishwa Vidyapeetham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Security Testing Framework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54864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C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AI/LLM Attack Surface — VAPT Report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48640" y="2377440"/>
            <a:ext cx="3200400" cy="36576"/>
          </a:xfrm>
          <a:prstGeom prst="rect">
            <a:avLst/>
          </a:prstGeom>
          <a:solidFill>
            <a:srgbClr val="9B72C4"/>
          </a:solidFill>
          <a:ln w="12700">
            <a:solidFill>
              <a:srgbClr val="9B72C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2542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B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2788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Soumika Addala  (CH.SC.U4CYS23002)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48640" y="309067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Vikas Samudrala  (CH.SC.U4CYS230042)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48640" y="36576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Project  ·  Cybersecurity  ·  AI Red Teaming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6C3D91"/>
          </a:solidFill>
          <a:ln w="12700">
            <a:solidFill>
              <a:srgbClr val="6C3D9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Assessment &amp; Penetration Testing for Large Language Models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C3D91"/>
          </a:solidFill>
          <a:ln w="12700">
            <a:solidFill>
              <a:srgbClr val="6C3D91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09728"/>
            <a:ext cx="1737360" cy="6492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92240" y="201168"/>
            <a:ext cx="2286000" cy="457200"/>
          </a:xfrm>
          <a:prstGeom prst="roundRect">
            <a:avLst>
              <a:gd name="adj" fmla="val 10000"/>
            </a:avLst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92240" y="20116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Risk: HIGH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777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Security Testing Framework is a custom-built VAPT tool that evaluates Large Language Model systems against real-world adversarial attacks. It supports multiple LLM providers and autonomously executes comprehensive security tests, generating structured vulnerability reports.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74320" y="1481328"/>
            <a:ext cx="1965960" cy="1078992"/>
          </a:xfrm>
          <a:prstGeom prst="rect">
            <a:avLst/>
          </a:prstGeom>
          <a:solidFill>
            <a:srgbClr val="6C3D91"/>
          </a:solidFill>
          <a:ln w="12700">
            <a:solidFill>
              <a:srgbClr val="6C3D9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74320" y="153619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235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274320" y="2029968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Payloads Executed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423160" y="1481328"/>
            <a:ext cx="1965960" cy="1078992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423160" y="153619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174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2423160" y="2029968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Bypasses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0" y="1481328"/>
            <a:ext cx="1965960" cy="1078992"/>
          </a:xfrm>
          <a:prstGeom prst="rect">
            <a:avLst/>
          </a:prstGeom>
          <a:solidFill>
            <a:srgbClr val="E8851A"/>
          </a:solidFill>
          <a:ln w="12700">
            <a:solidFill>
              <a:srgbClr val="E8851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572000" y="153619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572000" y="2029968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Bypass Rate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720840" y="1481328"/>
            <a:ext cx="1965960" cy="1078992"/>
          </a:xfrm>
          <a:prstGeom prst="rect">
            <a:avLst/>
          </a:prstGeom>
          <a:solidFill>
            <a:srgbClr val="2E9B6F"/>
          </a:solidFill>
          <a:ln w="12700">
            <a:solidFill>
              <a:srgbClr val="2E9B6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720840" y="153619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67.4/100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6720840" y="2029968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Composite Score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7200" y="2743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57200" y="3090672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D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attack categories tested: Prompt Injection, Image Injection, Vector Embedding, API Attack, Unlimited Prompt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D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CRITICAL findings — Prompt Injection and Vector Embedding attacks identified as most severe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D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OpenAI (GPT-3.5/4), Anthropic Claude, Mistral, Groq, Together AI and custom endpoints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D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vulnerability reports in JSON, TXT, and HTML formats with severity classification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C3D91"/>
          </a:solidFill>
          <a:ln w="12700">
            <a:solidFill>
              <a:srgbClr val="6C3D91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09728"/>
            <a:ext cx="1737360" cy="6492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777240"/>
            <a:ext cx="82296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777240"/>
            <a:ext cx="64008" cy="2468880"/>
          </a:xfrm>
          <a:prstGeom prst="rect">
            <a:avLst/>
          </a:prstGeom>
          <a:solidFill>
            <a:srgbClr val="6C3D91"/>
          </a:solidFill>
          <a:ln w="12700">
            <a:solidFill>
              <a:srgbClr val="6C3D9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1792" y="868680"/>
            <a:ext cx="795528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D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(LLMs) are increasingly deployed in production environments, yet their security posture remains critically under-evaluated. This project presents a modular, automated LLM Security Testing Framework capable of detecting a wide range of adversarial vulnerabilities.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accepts user-supplied API keys for major LLM providers and autonomously executes five classes of penetration tests. A React-based web dashboard provides real-time progress monitoring, while a Flask backend orchestrates test execution, result aggregation, and multi-format report generation.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follows a five-layer architecture: Frontend, Backend, Core Testing Engine, Attack Detectors, and Data Layer. An integrated Analysis &amp; Evaluation module applies multi-metric scoring, confidence calculation, and severity classification to produce actionable vulnerability documentation.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34015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5760" y="3767328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E8D5F7"/>
          </a:solidFill>
          <a:ln w="12700">
            <a:solidFill>
              <a:srgbClr val="9B72C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37673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Security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468880" y="3767328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E8D5F7"/>
          </a:solidFill>
          <a:ln w="12700">
            <a:solidFill>
              <a:srgbClr val="9B72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468880" y="37673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0" y="3767328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E8D5F7"/>
          </a:solidFill>
          <a:ln w="12700">
            <a:solidFill>
              <a:srgbClr val="9B72C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0" y="37673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675120" y="3767328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E8D5F7"/>
          </a:solidFill>
          <a:ln w="12700">
            <a:solidFill>
              <a:srgbClr val="9B72C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75120" y="37673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Testing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65760" y="4224528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E8D5F7"/>
          </a:solidFill>
          <a:ln w="12700">
            <a:solidFill>
              <a:srgbClr val="9B72C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5760" y="42245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Red Teaming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468880" y="4224528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E8D5F7"/>
          </a:solidFill>
          <a:ln w="12700">
            <a:solidFill>
              <a:srgbClr val="9B72C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468880" y="42245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Embedding Attack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572000" y="4224528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E8D5F7"/>
          </a:solidFill>
          <a:ln w="12700">
            <a:solidFill>
              <a:srgbClr val="9B72C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0" y="42245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Security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675120" y="4224528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E8D5F7"/>
          </a:solidFill>
          <a:ln w="12700">
            <a:solidFill>
              <a:srgbClr val="9B72C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675120" y="42245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AI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C3D91"/>
          </a:solidFill>
          <a:ln w="12700">
            <a:solidFill>
              <a:srgbClr val="6C3D91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09728"/>
            <a:ext cx="1737360" cy="6492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Motivation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65760" y="777240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777240"/>
            <a:ext cx="64008" cy="2011680"/>
          </a:xfrm>
          <a:prstGeom prst="rect">
            <a:avLst/>
          </a:prstGeom>
          <a:solidFill>
            <a:srgbClr val="6C3D91"/>
          </a:solidFill>
          <a:ln w="12700">
            <a:solidFill>
              <a:srgbClr val="6C3D9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8412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30352" y="114300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D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rapid adoption of LLMs across industries has introduced a new, unexplored attack surface. Unlike traditional applications, LLMs are vulnerable to unique threats exploiting natural language understanding, context retention, and generative capabilities.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D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security tools are not designed to evaluate AI-specific vulnerabilities such as prompt injection, embedding poisoning, or jailbreak attempts — creating a critical gap.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63440" y="777240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777240"/>
            <a:ext cx="64008" cy="2011680"/>
          </a:xfrm>
          <a:prstGeom prst="rect">
            <a:avLst/>
          </a:prstGeom>
          <a:solidFill>
            <a:srgbClr val="9B72C4"/>
          </a:solidFill>
          <a:ln w="12700">
            <a:solidFill>
              <a:srgbClr val="9B72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28032" y="8412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828032" y="114300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D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Systematically test LLM endpoints for adversarial vulnerabilities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D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real-world attacks across multiple providers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D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structured, reproducible vulnerability reports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D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model behaviour under prompt manipulation, image injection, and vector poisoning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57200" y="2926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7200" y="3273552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modular VAPT framework targeting LLM systems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5 attack categories: Prompt Injection, Image Injection, Vector Embedding, API Attack, Unlimited Prompt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real-time monitoring via React dashboard with multi-format reports (JSON, TXT, HTML)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practical AI red-teaming techniques in an academic context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C3D91"/>
          </a:solidFill>
          <a:ln w="12700">
            <a:solidFill>
              <a:srgbClr val="6C3D91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09728"/>
            <a:ext cx="1737360" cy="6492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B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Five-Layer Architecture — LLM Security Testing Framework v1.0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4320" y="932688"/>
            <a:ext cx="8595360" cy="40050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C3D91"/>
          </a:solidFill>
          <a:ln w="12700">
            <a:solidFill>
              <a:srgbClr val="6C3D91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09728"/>
            <a:ext cx="1737360" cy="6492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Layer Breakdown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74320" y="795528"/>
            <a:ext cx="502920" cy="640080"/>
          </a:xfrm>
          <a:prstGeom prst="rect">
            <a:avLst/>
          </a:prstGeom>
          <a:solidFill>
            <a:srgbClr val="6C3D91"/>
          </a:solidFill>
          <a:ln w="12700">
            <a:solidFill>
              <a:srgbClr val="6C3D9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795528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822960" y="795528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8686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Layer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112471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C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Web Dashboard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566160" y="886968"/>
            <a:ext cx="18288" cy="457200"/>
          </a:xfrm>
          <a:prstGeom prst="rect">
            <a:avLst/>
          </a:prstGeom>
          <a:solidFill>
            <a:srgbClr val="E8D5F7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0" y="886968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Selection  ·  Real-time Monitoring  ·  Results Visualization  ·  Export (JSON/TXT/HTML)  ·  User Config Panel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74320" y="1600200"/>
            <a:ext cx="502920" cy="640080"/>
          </a:xfrm>
          <a:prstGeom prst="rect">
            <a:avLst/>
          </a:prstGeom>
          <a:solidFill>
            <a:srgbClr val="9B72C4"/>
          </a:solidFill>
          <a:ln w="12700">
            <a:solidFill>
              <a:srgbClr val="9B72C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4320" y="160020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822960" y="1600200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0120" y="167335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Layer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60120" y="1929384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B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 Server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566160" y="1691640"/>
            <a:ext cx="18288" cy="457200"/>
          </a:xfrm>
          <a:prstGeom prst="rect">
            <a:avLst/>
          </a:prstGeom>
          <a:solidFill>
            <a:srgbClr val="E8D5F7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57600" y="169164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Handler  ·  Test Orchestration Engine  ·  Progress Tracking  ·  Results Aggregation  ·  Session Management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74320" y="2404872"/>
            <a:ext cx="502920" cy="640080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74320" y="2404872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822960" y="2404872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0120" y="247802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Testing Engine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60120" y="2734056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Base + Config Manager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566160" y="2496312"/>
            <a:ext cx="18288" cy="457200"/>
          </a:xfrm>
          <a:prstGeom prst="rect">
            <a:avLst/>
          </a:prstGeom>
          <a:solidFill>
            <a:srgbClr val="E8D5F7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57600" y="2496312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Client Module  ·  Configuration Manager  ·  Base Security Tester (Abstract)  ·  Test Result Data Models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74320" y="3209544"/>
            <a:ext cx="502920" cy="640080"/>
          </a:xfrm>
          <a:prstGeom prst="rect">
            <a:avLst/>
          </a:prstGeom>
          <a:solidFill>
            <a:srgbClr val="E8851A"/>
          </a:solidFill>
          <a:ln w="12700">
            <a:solidFill>
              <a:srgbClr val="E8851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74320" y="3209544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822960" y="3209544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60120" y="328269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Detectors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960120" y="3538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88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Independent Modules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3566160" y="3300984"/>
            <a:ext cx="18288" cy="457200"/>
          </a:xfrm>
          <a:prstGeom prst="rect">
            <a:avLst/>
          </a:prstGeom>
          <a:solidFill>
            <a:srgbClr val="E8D5F7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657600" y="3300984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 ·  Image Injection  ·  Vector Embedding  ·  API Attack  ·  Unlimited Prompt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274320" y="4014216"/>
            <a:ext cx="502920" cy="640080"/>
          </a:xfrm>
          <a:prstGeom prst="rect">
            <a:avLst/>
          </a:prstGeom>
          <a:solidFill>
            <a:srgbClr val="2E9B6F"/>
          </a:solidFill>
          <a:ln w="12700">
            <a:solidFill>
              <a:srgbClr val="2E9B6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74320" y="4014216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5" name="Shape 32"/>
          <p:cNvSpPr/>
          <p:nvPr/>
        </p:nvSpPr>
        <p:spPr>
          <a:xfrm>
            <a:off x="822960" y="4014216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60120" y="40873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960120" y="43434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E9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Logging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3566160" y="4105656"/>
            <a:ext cx="18288" cy="457200"/>
          </a:xfrm>
          <a:prstGeom prst="rect">
            <a:avLst/>
          </a:prstGeom>
          <a:solidFill>
            <a:srgbClr val="E8D5F7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657600" y="4105656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Payload DB  ·  Test Results Storage  ·  Config Files  ·  Embeddings Cache  ·  Report Templates  ·  System Logs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C3D91"/>
          </a:solidFill>
          <a:ln w="12700">
            <a:solidFill>
              <a:srgbClr val="6C3D91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09728"/>
            <a:ext cx="1737360" cy="6492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Integrations &amp; Scope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74980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LLM Providers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65760" y="1097280"/>
            <a:ext cx="265176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5240">
            <a:solidFill>
              <a:srgbClr val="9B72C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109728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(GPT-3.5, GPT-4)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0" y="1097280"/>
            <a:ext cx="265176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5240">
            <a:solidFill>
              <a:srgbClr val="9B72C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0" y="109728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35040" y="1097280"/>
            <a:ext cx="265176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5240">
            <a:solidFill>
              <a:srgbClr val="9B72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35040" y="109728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AI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5760" y="1691640"/>
            <a:ext cx="265176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5240">
            <a:solidFill>
              <a:srgbClr val="9B72C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" y="169164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00400" y="1691640"/>
            <a:ext cx="265176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5240">
            <a:solidFill>
              <a:srgbClr val="9B72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0" y="169164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AI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35040" y="1691640"/>
            <a:ext cx="265176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5240">
            <a:solidFill>
              <a:srgbClr val="9B72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35040" y="169164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API Endpoints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" y="242316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Methodology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65760" y="2788920"/>
            <a:ext cx="2011680" cy="347472"/>
          </a:xfrm>
          <a:prstGeom prst="rect">
            <a:avLst/>
          </a:prstGeom>
          <a:solidFill>
            <a:srgbClr val="6C3D91"/>
          </a:solidFill>
          <a:ln w="12700">
            <a:solidFill>
              <a:srgbClr val="6C3D9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5760" y="27889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Layer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2423160" y="2788920"/>
            <a:ext cx="6400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514600" y="2788920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override, system prompt extraction, jailbreaks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365760" y="3227832"/>
            <a:ext cx="2011680" cy="347472"/>
          </a:xfrm>
          <a:prstGeom prst="rect">
            <a:avLst/>
          </a:prstGeom>
          <a:solidFill>
            <a:srgbClr val="6C3D91"/>
          </a:solidFill>
          <a:ln w="12700">
            <a:solidFill>
              <a:srgbClr val="6C3D9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65760" y="322783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Layer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2423160" y="3227832"/>
            <a:ext cx="6400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514600" y="3227832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OCR-based image injection, steganographic payloads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365760" y="3666744"/>
            <a:ext cx="2011680" cy="347472"/>
          </a:xfrm>
          <a:prstGeom prst="rect">
            <a:avLst/>
          </a:prstGeom>
          <a:solidFill>
            <a:srgbClr val="6C3D91"/>
          </a:solidFill>
          <a:ln w="12700">
            <a:solidFill>
              <a:srgbClr val="6C3D9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65760" y="366674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/ RAG Layer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2423160" y="3666744"/>
            <a:ext cx="6400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514600" y="3666744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poisoning, semantic manipulation, retrieval attacks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365760" y="4105656"/>
            <a:ext cx="2011680" cy="347472"/>
          </a:xfrm>
          <a:prstGeom prst="rect">
            <a:avLst/>
          </a:prstGeom>
          <a:solidFill>
            <a:srgbClr val="6C3D91"/>
          </a:solidFill>
          <a:ln w="12700">
            <a:solidFill>
              <a:srgbClr val="6C3D9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65760" y="410565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2423160" y="4105656"/>
            <a:ext cx="6400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514600" y="4105656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 bypass, token smuggling, parameter manipulation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365760" y="4544568"/>
            <a:ext cx="2011680" cy="347472"/>
          </a:xfrm>
          <a:prstGeom prst="rect">
            <a:avLst/>
          </a:prstGeom>
          <a:solidFill>
            <a:srgbClr val="6C3D91"/>
          </a:solidFill>
          <a:ln w="12700">
            <a:solidFill>
              <a:srgbClr val="6C3D9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65760" y="45445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Layer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2423160" y="4544568"/>
            <a:ext cx="6400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514600" y="4544568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overflow, resource exhaustion, memory stress testing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C3D91"/>
          </a:solidFill>
          <a:ln w="12700">
            <a:solidFill>
              <a:srgbClr val="6C3D91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09728"/>
            <a:ext cx="1737360" cy="6492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Detectors — Overview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B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independent modular detectors — each inheriting from BaseSecurity Tester abstract class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274320" y="960120"/>
            <a:ext cx="8686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960120"/>
            <a:ext cx="64008" cy="685800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96012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106984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" y="134416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B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prompt_injection.py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840480" y="112471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override, role manipulation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132320" y="1143000"/>
            <a:ext cx="868680" cy="320040"/>
          </a:xfrm>
          <a:prstGeom prst="roundRect">
            <a:avLst>
              <a:gd name="adj" fmla="val 11429"/>
            </a:avLst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32320" y="1143000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8092440" y="116128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CWE-77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274320" y="1755648"/>
            <a:ext cx="8686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74320" y="1755648"/>
            <a:ext cx="64008" cy="685800"/>
          </a:xfrm>
          <a:prstGeom prst="rect">
            <a:avLst/>
          </a:prstGeom>
          <a:solidFill>
            <a:srgbClr val="E8851A"/>
          </a:solidFill>
          <a:ln w="12700">
            <a:solidFill>
              <a:srgbClr val="E8851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1480" y="1755648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8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22960" y="186537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Injection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22960" y="2139696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B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image_injection.py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840480" y="1920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prompt injection, steganography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132320" y="1938528"/>
            <a:ext cx="868680" cy="320040"/>
          </a:xfrm>
          <a:prstGeom prst="roundRect">
            <a:avLst>
              <a:gd name="adj" fmla="val 11429"/>
            </a:avLst>
          </a:prstGeom>
          <a:solidFill>
            <a:srgbClr val="E8851A"/>
          </a:solidFill>
          <a:ln w="12700">
            <a:solidFill>
              <a:srgbClr val="E8851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132320" y="1938528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8092440" y="1956816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CWE-20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274320" y="2551176"/>
            <a:ext cx="8686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74320" y="2551176"/>
            <a:ext cx="64008" cy="685800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11480" y="2551176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822960" y="266090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Embedding Attack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22960" y="2935224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B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vector_embed_attack.py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3840480" y="271576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poisoning, embedding manipulation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132320" y="2734056"/>
            <a:ext cx="868680" cy="320040"/>
          </a:xfrm>
          <a:prstGeom prst="roundRect">
            <a:avLst>
              <a:gd name="adj" fmla="val 11429"/>
            </a:avLst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132320" y="2734056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8092440" y="275234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CWE-20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274320" y="3346704"/>
            <a:ext cx="8686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74320" y="3346704"/>
            <a:ext cx="64008" cy="685800"/>
          </a:xfrm>
          <a:prstGeom prst="rect">
            <a:avLst/>
          </a:prstGeom>
          <a:solidFill>
            <a:srgbClr val="E8851A"/>
          </a:solidFill>
          <a:ln w="12700">
            <a:solidFill>
              <a:srgbClr val="E8851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11480" y="3346704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8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822960" y="34564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Attack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822960" y="3730752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B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api_attack.py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3840480" y="351129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 bypass, token smuggling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7132320" y="3529584"/>
            <a:ext cx="868680" cy="320040"/>
          </a:xfrm>
          <a:prstGeom prst="roundRect">
            <a:avLst>
              <a:gd name="adj" fmla="val 11429"/>
            </a:avLst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132320" y="3529584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8092440" y="3547872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CWE-307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274320" y="4142232"/>
            <a:ext cx="8686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74320" y="4142232"/>
            <a:ext cx="64008" cy="685800"/>
          </a:xfrm>
          <a:prstGeom prst="rect">
            <a:avLst/>
          </a:prstGeom>
          <a:solidFill>
            <a:srgbClr val="2E9B6F"/>
          </a:solidFill>
          <a:ln w="12700">
            <a:solidFill>
              <a:srgbClr val="2E9B6F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11480" y="4142232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822960" y="42519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Prompt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822960" y="452628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B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unlimited_prompt.py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3840480" y="430682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overflow, resource exhaustion</a:t>
            </a:r>
            <a:endParaRPr lang="en-US" sz="1050" dirty="0"/>
          </a:p>
        </p:txBody>
      </p:sp>
      <p:sp>
        <p:nvSpPr>
          <p:cNvPr id="48" name="Shape 45"/>
          <p:cNvSpPr/>
          <p:nvPr/>
        </p:nvSpPr>
        <p:spPr>
          <a:xfrm>
            <a:off x="7132320" y="4325112"/>
            <a:ext cx="868680" cy="320040"/>
          </a:xfrm>
          <a:prstGeom prst="roundRect">
            <a:avLst>
              <a:gd name="adj" fmla="val 11429"/>
            </a:avLst>
          </a:prstGeom>
          <a:solidFill>
            <a:srgbClr val="2E9B6F"/>
          </a:solidFill>
          <a:ln w="12700">
            <a:solidFill>
              <a:srgbClr val="2E9B6F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132320" y="4325112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50" dirty="0"/>
          </a:p>
        </p:txBody>
      </p:sp>
      <p:sp>
        <p:nvSpPr>
          <p:cNvPr id="50" name="Text 47"/>
          <p:cNvSpPr/>
          <p:nvPr/>
        </p:nvSpPr>
        <p:spPr>
          <a:xfrm>
            <a:off x="8092440" y="434340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CWE-400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C3D91"/>
          </a:solidFill>
          <a:ln w="12700">
            <a:solidFill>
              <a:srgbClr val="6C3D91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09728"/>
            <a:ext cx="1737360" cy="6492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Deep Dive — Prompt &amp; Image Injection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749808"/>
            <a:ext cx="85953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" y="749808"/>
            <a:ext cx="64008" cy="1874520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680960" y="841248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80960" y="84124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8229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A — Prompt Injection Tester  (CWE-77)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1152144"/>
            <a:ext cx="2286000" cy="274320"/>
          </a:xfrm>
          <a:prstGeom prst="rect">
            <a:avLst/>
          </a:prstGeom>
          <a:solidFill>
            <a:srgbClr val="E8D5F7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15214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Extraction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852928" y="1152144"/>
            <a:ext cx="5897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Tricks model into revealing hidden system prompt — "Repeat everything above"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" y="1499616"/>
            <a:ext cx="2286000" cy="274320"/>
          </a:xfrm>
          <a:prstGeom prst="rect">
            <a:avLst/>
          </a:prstGeom>
          <a:solidFill>
            <a:srgbClr val="E8D5F7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14996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Override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2852928" y="1499616"/>
            <a:ext cx="5897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Supersedes original prompt — "Ignore previous instructions and instead…"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57200" y="1847088"/>
            <a:ext cx="2286000" cy="274320"/>
          </a:xfrm>
          <a:prstGeom prst="rect">
            <a:avLst/>
          </a:prstGeom>
          <a:solidFill>
            <a:srgbClr val="E8D5F7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1847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Jailbreak Attempt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2852928" y="1847088"/>
            <a:ext cx="5897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roleplay/hypothetical framing to bypass content policies — DAN-style attacks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57200" y="2194560"/>
            <a:ext cx="2286000" cy="274320"/>
          </a:xfrm>
          <a:prstGeom prst="rect">
            <a:avLst/>
          </a:prstGeom>
          <a:solidFill>
            <a:srgbClr val="E8D5F7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2194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Manipulation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2852928" y="2194560"/>
            <a:ext cx="5897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a new identity to alter behavioural constraints of the model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274320" y="2743200"/>
            <a:ext cx="8595360" cy="22128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74320" y="2743200"/>
            <a:ext cx="64008" cy="2212848"/>
          </a:xfrm>
          <a:prstGeom prst="rect">
            <a:avLst/>
          </a:prstGeom>
          <a:solidFill>
            <a:srgbClr val="E8851A"/>
          </a:solidFill>
          <a:ln w="12700">
            <a:solidFill>
              <a:srgbClr val="E8851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680960" y="2834640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E8851A"/>
          </a:solidFill>
          <a:ln w="12700">
            <a:solidFill>
              <a:srgbClr val="E8851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680960" y="28346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57200" y="28163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B — Image Injection Tester  (CWE-20)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457200" y="316382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multimodal vision-enabled LLMs by embedding hidden instructions, adversarial text, or steganographic payloads within image files — bypassing text-based content filters entirely.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65760" y="3675888"/>
            <a:ext cx="2651760" cy="365760"/>
          </a:xfrm>
          <a:prstGeom prst="roundRect">
            <a:avLst>
              <a:gd name="adj" fmla="val 10000"/>
            </a:avLst>
          </a:prstGeom>
          <a:solidFill>
            <a:srgbClr val="F3EEFB"/>
          </a:solidFill>
          <a:ln w="12700">
            <a:solidFill>
              <a:srgbClr val="9B72C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65760" y="36758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Delimiter Confusion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3200400" y="3675888"/>
            <a:ext cx="2651760" cy="365760"/>
          </a:xfrm>
          <a:prstGeom prst="roundRect">
            <a:avLst>
              <a:gd name="adj" fmla="val 10000"/>
            </a:avLst>
          </a:prstGeom>
          <a:solidFill>
            <a:srgbClr val="F3EEFB"/>
          </a:solidFill>
          <a:ln w="12700">
            <a:solidFill>
              <a:srgbClr val="9B72C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200400" y="36758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Extraction (OCR)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035040" y="3675888"/>
            <a:ext cx="2651760" cy="365760"/>
          </a:xfrm>
          <a:prstGeom prst="roundRect">
            <a:avLst>
              <a:gd name="adj" fmla="val 10000"/>
            </a:avLst>
          </a:prstGeom>
          <a:solidFill>
            <a:srgbClr val="F3EEFB"/>
          </a:solidFill>
          <a:ln w="12700">
            <a:solidFill>
              <a:srgbClr val="9B72C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035040" y="36758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Steganographic Content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365760" y="4151376"/>
            <a:ext cx="2651760" cy="365760"/>
          </a:xfrm>
          <a:prstGeom prst="roundRect">
            <a:avLst>
              <a:gd name="adj" fmla="val 10000"/>
            </a:avLst>
          </a:prstGeom>
          <a:solidFill>
            <a:srgbClr val="F3EEFB"/>
          </a:solidFill>
          <a:ln w="12700">
            <a:solidFill>
              <a:srgbClr val="9B72C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65760" y="415137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Prompt Injection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3200400" y="4151376"/>
            <a:ext cx="2651760" cy="365760"/>
          </a:xfrm>
          <a:prstGeom prst="roundRect">
            <a:avLst>
              <a:gd name="adj" fmla="val 10000"/>
            </a:avLst>
          </a:prstGeom>
          <a:solidFill>
            <a:srgbClr val="F3EEFB"/>
          </a:solidFill>
          <a:ln w="12700">
            <a:solidFill>
              <a:srgbClr val="9B72C4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200400" y="415137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Overlay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6035040" y="4151376"/>
            <a:ext cx="2651760" cy="365760"/>
          </a:xfrm>
          <a:prstGeom prst="roundRect">
            <a:avLst>
              <a:gd name="adj" fmla="val 10000"/>
            </a:avLst>
          </a:prstGeom>
          <a:solidFill>
            <a:srgbClr val="F3EEFB"/>
          </a:solidFill>
          <a:ln w="12700">
            <a:solidFill>
              <a:srgbClr val="9B72C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035040" y="415137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Generation Exploit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C3D91"/>
          </a:solidFill>
          <a:ln w="12700">
            <a:solidFill>
              <a:srgbClr val="6C3D91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09728"/>
            <a:ext cx="1737360" cy="6492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Deep Dive — Vector Embedding &amp; API Attack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274320" y="749808"/>
            <a:ext cx="859536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" y="749808"/>
            <a:ext cx="64008" cy="2029968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680960" y="841248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80960" y="84124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8229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C — Vector Embedding Attack  (CWE-20)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115214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Exploits RAG (Retrieval-Augmented Generation) pipelines by poisoning the vector embedding space. Sentence-Transformers used as the embedding model.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65760" y="1600200"/>
            <a:ext cx="26517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8912" y="160020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Exploitation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377440" y="1655064"/>
            <a:ext cx="566928" cy="274320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377440" y="1655064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200400" y="1600200"/>
            <a:ext cx="26517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73552" y="160020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Perturbation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212080" y="1655064"/>
            <a:ext cx="566928" cy="274320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212080" y="1655064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035040" y="1600200"/>
            <a:ext cx="26517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08192" y="160020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Mismatch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8046720" y="1655064"/>
            <a:ext cx="566928" cy="274320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046720" y="1655064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65760" y="2075688"/>
            <a:ext cx="26517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8912" y="207568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Poisoning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2377440" y="2130552"/>
            <a:ext cx="566928" cy="274320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377440" y="2130552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3200400" y="2075688"/>
            <a:ext cx="26517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273552" y="207568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Transformer Abuse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212080" y="2130552"/>
            <a:ext cx="566928" cy="274320"/>
          </a:xfrm>
          <a:prstGeom prst="rect">
            <a:avLst/>
          </a:prstGeom>
          <a:solidFill>
            <a:srgbClr val="E8851A"/>
          </a:solidFill>
          <a:ln w="12700">
            <a:solidFill>
              <a:srgbClr val="E8851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212080" y="2130552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6035040" y="2075688"/>
            <a:ext cx="26517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108192" y="207568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Average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8046720" y="2130552"/>
            <a:ext cx="566928" cy="274320"/>
          </a:xfrm>
          <a:prstGeom prst="rect">
            <a:avLst/>
          </a:prstGeom>
          <a:solidFill>
            <a:srgbClr val="2D1B4E"/>
          </a:solidFill>
          <a:ln w="12700">
            <a:solidFill>
              <a:srgbClr val="2D1B4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046720" y="2130552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81.5%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274320" y="2907792"/>
            <a:ext cx="859536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74320" y="2907792"/>
            <a:ext cx="64008" cy="2029968"/>
          </a:xfrm>
          <a:prstGeom prst="rect">
            <a:avLst/>
          </a:prstGeom>
          <a:solidFill>
            <a:srgbClr val="E8851A"/>
          </a:solidFill>
          <a:ln w="12700">
            <a:solidFill>
              <a:srgbClr val="E8851A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680960" y="2999232"/>
            <a:ext cx="868680" cy="274320"/>
          </a:xfrm>
          <a:prstGeom prst="roundRect">
            <a:avLst>
              <a:gd name="adj" fmla="val 13333"/>
            </a:avLst>
          </a:prstGeom>
          <a:solidFill>
            <a:srgbClr val="E8851A"/>
          </a:solidFill>
          <a:ln w="12700">
            <a:solidFill>
              <a:srgbClr val="E8851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680960" y="299923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457200" y="2980944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 — API Attack Tester  (CWE-307)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457200" y="3328416"/>
            <a:ext cx="82296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D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 server-side cap on token consumption per request detected during testing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D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 enforcement inconsistent — rapid sequential requests from varying patterns bypassed controls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D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manipulation (temperature extremes) caused erratic and unpredictable model outputs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D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exploitation straightforward — requests consistently consumed maximum token budgets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C3D91"/>
          </a:solidFill>
          <a:ln w="12700">
            <a:solidFill>
              <a:srgbClr val="6C3D91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09728"/>
            <a:ext cx="1737360" cy="6492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&amp; Results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777240"/>
            <a:ext cx="2286000" cy="347472"/>
          </a:xfrm>
          <a:prstGeom prst="rect">
            <a:avLst/>
          </a:prstGeom>
          <a:solidFill>
            <a:srgbClr val="6C3D91"/>
          </a:solidFill>
          <a:ln w="12700">
            <a:solidFill>
              <a:srgbClr val="6C3D9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7772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Module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60320" y="777240"/>
            <a:ext cx="1280160" cy="347472"/>
          </a:xfrm>
          <a:prstGeom prst="rect">
            <a:avLst/>
          </a:prstGeom>
          <a:solidFill>
            <a:srgbClr val="6C3D91"/>
          </a:solidFill>
          <a:ln w="12700">
            <a:solidFill>
              <a:srgbClr val="6C3D9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560320" y="7772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840480" y="777240"/>
            <a:ext cx="1280160" cy="347472"/>
          </a:xfrm>
          <a:prstGeom prst="rect">
            <a:avLst/>
          </a:prstGeom>
          <a:solidFill>
            <a:srgbClr val="6C3D91"/>
          </a:solidFill>
          <a:ln w="12700">
            <a:solidFill>
              <a:srgbClr val="6C3D9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0" y="7772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120640" y="777240"/>
            <a:ext cx="1097280" cy="347472"/>
          </a:xfrm>
          <a:prstGeom prst="rect">
            <a:avLst/>
          </a:prstGeom>
          <a:solidFill>
            <a:srgbClr val="6C3D91"/>
          </a:solidFill>
          <a:ln w="12700">
            <a:solidFill>
              <a:srgbClr val="6C3D9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20640" y="77724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17920" y="777240"/>
            <a:ext cx="1005840" cy="347472"/>
          </a:xfrm>
          <a:prstGeom prst="rect">
            <a:avLst/>
          </a:prstGeom>
          <a:solidFill>
            <a:srgbClr val="6C3D91"/>
          </a:solidFill>
          <a:ln w="12700">
            <a:solidFill>
              <a:srgbClr val="6C3D9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17920" y="77724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223760" y="777240"/>
            <a:ext cx="1005840" cy="347472"/>
          </a:xfrm>
          <a:prstGeom prst="rect">
            <a:avLst/>
          </a:prstGeom>
          <a:solidFill>
            <a:srgbClr val="6C3D91"/>
          </a:solidFill>
          <a:ln w="12700">
            <a:solidFill>
              <a:srgbClr val="6C3D9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223760" y="77724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Bypassed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74320" y="1170432"/>
            <a:ext cx="2286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" y="1170432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2560320" y="1170432"/>
            <a:ext cx="1280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560320" y="1170432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82/100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840480" y="1170432"/>
            <a:ext cx="1280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840480" y="1170432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120640" y="1170432"/>
            <a:ext cx="1097280" cy="566928"/>
          </a:xfrm>
          <a:prstGeom prst="rect">
            <a:avLst/>
          </a:prstGeom>
          <a:solidFill>
            <a:srgbClr val="D64045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120640" y="1170432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217920" y="1170432"/>
            <a:ext cx="1005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217920" y="1170432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7223760" y="1170432"/>
            <a:ext cx="1005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223760" y="1170432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274320" y="1828800"/>
            <a:ext cx="2286000" cy="566928"/>
          </a:xfrm>
          <a:prstGeom prst="rect">
            <a:avLst/>
          </a:prstGeom>
          <a:solidFill>
            <a:srgbClr val="F3EEFB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74320" y="182880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Injection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2560320" y="1828800"/>
            <a:ext cx="1280160" cy="566928"/>
          </a:xfrm>
          <a:prstGeom prst="rect">
            <a:avLst/>
          </a:prstGeom>
          <a:solidFill>
            <a:srgbClr val="F3EEFB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560320" y="1828800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79/100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3840480" y="1828800"/>
            <a:ext cx="1280160" cy="566928"/>
          </a:xfrm>
          <a:prstGeom prst="rect">
            <a:avLst/>
          </a:prstGeom>
          <a:solidFill>
            <a:srgbClr val="F3EEFB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840480" y="1828800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87.5%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5120640" y="1828800"/>
            <a:ext cx="1097280" cy="566928"/>
          </a:xfrm>
          <a:prstGeom prst="rect">
            <a:avLst/>
          </a:prstGeom>
          <a:solidFill>
            <a:srgbClr val="E8851A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120640" y="1828800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6217920" y="1828800"/>
            <a:ext cx="1005840" cy="566928"/>
          </a:xfrm>
          <a:prstGeom prst="rect">
            <a:avLst/>
          </a:prstGeom>
          <a:solidFill>
            <a:srgbClr val="F3EEFB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217920" y="1828800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7223760" y="1828800"/>
            <a:ext cx="1005840" cy="566928"/>
          </a:xfrm>
          <a:prstGeom prst="rect">
            <a:avLst/>
          </a:prstGeom>
          <a:solidFill>
            <a:srgbClr val="F3EEFB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223760" y="1828800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274320" y="2487168"/>
            <a:ext cx="2286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274320" y="2487168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Embedding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2560320" y="2487168"/>
            <a:ext cx="1280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2560320" y="2487168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83/100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3840480" y="2487168"/>
            <a:ext cx="1280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3840480" y="2487168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81.5%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5120640" y="2487168"/>
            <a:ext cx="1097280" cy="566928"/>
          </a:xfrm>
          <a:prstGeom prst="rect">
            <a:avLst/>
          </a:prstGeom>
          <a:solidFill>
            <a:srgbClr val="D64045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120640" y="2487168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6217920" y="2487168"/>
            <a:ext cx="1005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217920" y="2487168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7223760" y="2487168"/>
            <a:ext cx="1005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7223760" y="2487168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274320" y="3145536"/>
            <a:ext cx="2286000" cy="566928"/>
          </a:xfrm>
          <a:prstGeom prst="rect">
            <a:avLst/>
          </a:prstGeom>
          <a:solidFill>
            <a:srgbClr val="F3EEFB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274320" y="3145536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Attack</a:t>
            </a:r>
            <a:endParaRPr lang="en-US" sz="1050" dirty="0"/>
          </a:p>
        </p:txBody>
      </p:sp>
      <p:sp>
        <p:nvSpPr>
          <p:cNvPr id="55" name="Shape 52"/>
          <p:cNvSpPr/>
          <p:nvPr/>
        </p:nvSpPr>
        <p:spPr>
          <a:xfrm>
            <a:off x="2560320" y="3145536"/>
            <a:ext cx="1280160" cy="566928"/>
          </a:xfrm>
          <a:prstGeom prst="rect">
            <a:avLst/>
          </a:prstGeom>
          <a:solidFill>
            <a:srgbClr val="F3EEFB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2560320" y="3145536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71/100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3840480" y="3145536"/>
            <a:ext cx="1280160" cy="566928"/>
          </a:xfrm>
          <a:prstGeom prst="rect">
            <a:avLst/>
          </a:prstGeom>
          <a:solidFill>
            <a:srgbClr val="F3EEFB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3840480" y="3145536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~65%</a:t>
            </a:r>
            <a:endParaRPr lang="en-US" sz="1100" dirty="0"/>
          </a:p>
        </p:txBody>
      </p:sp>
      <p:sp>
        <p:nvSpPr>
          <p:cNvPr id="59" name="Shape 56"/>
          <p:cNvSpPr/>
          <p:nvPr/>
        </p:nvSpPr>
        <p:spPr>
          <a:xfrm>
            <a:off x="5120640" y="3145536"/>
            <a:ext cx="1097280" cy="566928"/>
          </a:xfrm>
          <a:prstGeom prst="rect">
            <a:avLst/>
          </a:prstGeom>
          <a:solidFill>
            <a:srgbClr val="E8851A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5120640" y="3145536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61" name="Shape 58"/>
          <p:cNvSpPr/>
          <p:nvPr/>
        </p:nvSpPr>
        <p:spPr>
          <a:xfrm>
            <a:off x="6217920" y="3145536"/>
            <a:ext cx="1005840" cy="566928"/>
          </a:xfrm>
          <a:prstGeom prst="rect">
            <a:avLst/>
          </a:prstGeom>
          <a:solidFill>
            <a:srgbClr val="F3EEFB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6217920" y="3145536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100" dirty="0"/>
          </a:p>
        </p:txBody>
      </p:sp>
      <p:sp>
        <p:nvSpPr>
          <p:cNvPr id="63" name="Shape 60"/>
          <p:cNvSpPr/>
          <p:nvPr/>
        </p:nvSpPr>
        <p:spPr>
          <a:xfrm>
            <a:off x="7223760" y="3145536"/>
            <a:ext cx="1005840" cy="566928"/>
          </a:xfrm>
          <a:prstGeom prst="rect">
            <a:avLst/>
          </a:prstGeom>
          <a:solidFill>
            <a:srgbClr val="F3EEFB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7223760" y="3145536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~23</a:t>
            </a:r>
            <a:endParaRPr lang="en-US" sz="1100" dirty="0"/>
          </a:p>
        </p:txBody>
      </p:sp>
      <p:sp>
        <p:nvSpPr>
          <p:cNvPr id="65" name="Shape 62"/>
          <p:cNvSpPr/>
          <p:nvPr/>
        </p:nvSpPr>
        <p:spPr>
          <a:xfrm>
            <a:off x="274320" y="3803904"/>
            <a:ext cx="2286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274320" y="3803904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Prompt</a:t>
            </a:r>
            <a:endParaRPr lang="en-US" sz="1050" dirty="0"/>
          </a:p>
        </p:txBody>
      </p:sp>
      <p:sp>
        <p:nvSpPr>
          <p:cNvPr id="67" name="Shape 64"/>
          <p:cNvSpPr/>
          <p:nvPr/>
        </p:nvSpPr>
        <p:spPr>
          <a:xfrm>
            <a:off x="2560320" y="3803904"/>
            <a:ext cx="1280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2560320" y="3803904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44/100</a:t>
            </a:r>
            <a:endParaRPr lang="en-US" sz="1100" dirty="0"/>
          </a:p>
        </p:txBody>
      </p:sp>
      <p:sp>
        <p:nvSpPr>
          <p:cNvPr id="69" name="Shape 66"/>
          <p:cNvSpPr/>
          <p:nvPr/>
        </p:nvSpPr>
        <p:spPr>
          <a:xfrm>
            <a:off x="3840480" y="3803904"/>
            <a:ext cx="1280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3840480" y="3803904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100" dirty="0"/>
          </a:p>
        </p:txBody>
      </p:sp>
      <p:sp>
        <p:nvSpPr>
          <p:cNvPr id="71" name="Shape 68"/>
          <p:cNvSpPr/>
          <p:nvPr/>
        </p:nvSpPr>
        <p:spPr>
          <a:xfrm>
            <a:off x="5120640" y="3803904"/>
            <a:ext cx="1097280" cy="566928"/>
          </a:xfrm>
          <a:prstGeom prst="rect">
            <a:avLst/>
          </a:prstGeom>
          <a:solidFill>
            <a:srgbClr val="2E9B6F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5120640" y="3803904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73" name="Shape 70"/>
          <p:cNvSpPr/>
          <p:nvPr/>
        </p:nvSpPr>
        <p:spPr>
          <a:xfrm>
            <a:off x="6217920" y="3803904"/>
            <a:ext cx="1005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6217920" y="3803904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sp>
        <p:nvSpPr>
          <p:cNvPr id="75" name="Shape 72"/>
          <p:cNvSpPr/>
          <p:nvPr/>
        </p:nvSpPr>
        <p:spPr>
          <a:xfrm>
            <a:off x="7223760" y="3803904"/>
            <a:ext cx="1005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7223760" y="3803904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100" dirty="0"/>
          </a:p>
        </p:txBody>
      </p:sp>
      <p:sp>
        <p:nvSpPr>
          <p:cNvPr id="77" name="Shape 74"/>
          <p:cNvSpPr/>
          <p:nvPr/>
        </p:nvSpPr>
        <p:spPr>
          <a:xfrm>
            <a:off x="274320" y="4498848"/>
            <a:ext cx="8686800" cy="457200"/>
          </a:xfrm>
          <a:prstGeom prst="rect">
            <a:avLst/>
          </a:prstGeom>
          <a:solidFill>
            <a:srgbClr val="2D1B4E"/>
          </a:solidFill>
          <a:ln w="12700">
            <a:solidFill>
              <a:srgbClr val="2D1B4E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274320" y="4498848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 —  235 payloads  ·  174 bypassed  ·  74.0% overall bypass rate  ·  Avg Composite Score: 67.4/100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C3D91"/>
          </a:solidFill>
          <a:ln w="12700">
            <a:solidFill>
              <a:srgbClr val="6C3D91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09728"/>
            <a:ext cx="1737360" cy="6492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Summary &amp; Matrix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7498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Matrix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74320" y="1060704"/>
            <a:ext cx="2011680" cy="347472"/>
          </a:xfrm>
          <a:prstGeom prst="rect">
            <a:avLst/>
          </a:prstGeom>
          <a:solidFill>
            <a:srgbClr val="6C3D91"/>
          </a:solidFill>
          <a:ln w="12700">
            <a:solidFill>
              <a:srgbClr val="6C3D9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106070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286000" y="1060704"/>
            <a:ext cx="1371600" cy="347472"/>
          </a:xfrm>
          <a:prstGeom prst="rect">
            <a:avLst/>
          </a:prstGeom>
          <a:solidFill>
            <a:srgbClr val="6C3D91"/>
          </a:solidFill>
          <a:ln w="12700">
            <a:solidFill>
              <a:srgbClr val="6C3D9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6000" y="106070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657600" y="1060704"/>
            <a:ext cx="1371600" cy="347472"/>
          </a:xfrm>
          <a:prstGeom prst="rect">
            <a:avLst/>
          </a:prstGeom>
          <a:solidFill>
            <a:srgbClr val="6C3D91"/>
          </a:solidFill>
          <a:ln w="12700">
            <a:solidFill>
              <a:srgbClr val="6C3D9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0" y="106070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029200" y="1060704"/>
            <a:ext cx="1371600" cy="347472"/>
          </a:xfrm>
          <a:prstGeom prst="rect">
            <a:avLst/>
          </a:prstGeom>
          <a:solidFill>
            <a:srgbClr val="6C3D91"/>
          </a:solidFill>
          <a:ln w="12700">
            <a:solidFill>
              <a:srgbClr val="6C3D9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0" y="106070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Risk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74320" y="1444752"/>
            <a:ext cx="20116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4320" y="144475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286000" y="1444752"/>
            <a:ext cx="1371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286000" y="1444752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657600" y="1444752"/>
            <a:ext cx="1371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57600" y="1444752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029200" y="1444752"/>
            <a:ext cx="1371600" cy="402336"/>
          </a:xfrm>
          <a:prstGeom prst="rect">
            <a:avLst/>
          </a:prstGeom>
          <a:solidFill>
            <a:srgbClr val="D64045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29200" y="1444752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74320" y="1901952"/>
            <a:ext cx="2011680" cy="402336"/>
          </a:xfrm>
          <a:prstGeom prst="rect">
            <a:avLst/>
          </a:prstGeom>
          <a:solidFill>
            <a:srgbClr val="F3EEFB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74320" y="190195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Embedding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2286000" y="1901952"/>
            <a:ext cx="1371600" cy="402336"/>
          </a:xfrm>
          <a:prstGeom prst="rect">
            <a:avLst/>
          </a:prstGeom>
          <a:solidFill>
            <a:srgbClr val="F3EEFB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286000" y="1901952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657600" y="1901952"/>
            <a:ext cx="1371600" cy="402336"/>
          </a:xfrm>
          <a:prstGeom prst="rect">
            <a:avLst/>
          </a:prstGeom>
          <a:solidFill>
            <a:srgbClr val="F3EEFB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657600" y="1901952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029200" y="1901952"/>
            <a:ext cx="1371600" cy="402336"/>
          </a:xfrm>
          <a:prstGeom prst="rect">
            <a:avLst/>
          </a:prstGeom>
          <a:solidFill>
            <a:srgbClr val="D64045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029200" y="1901952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274320" y="2359152"/>
            <a:ext cx="20116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74320" y="235915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Attack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2286000" y="2359152"/>
            <a:ext cx="1371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286000" y="2359152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3657600" y="2359152"/>
            <a:ext cx="1371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657600" y="2359152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5029200" y="2359152"/>
            <a:ext cx="1371600" cy="402336"/>
          </a:xfrm>
          <a:prstGeom prst="rect">
            <a:avLst/>
          </a:prstGeom>
          <a:solidFill>
            <a:srgbClr val="E8851A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029200" y="2359152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274320" y="2816352"/>
            <a:ext cx="2011680" cy="402336"/>
          </a:xfrm>
          <a:prstGeom prst="rect">
            <a:avLst/>
          </a:prstGeom>
          <a:solidFill>
            <a:srgbClr val="F3EEFB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74320" y="281635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Injection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2286000" y="2816352"/>
            <a:ext cx="1371600" cy="402336"/>
          </a:xfrm>
          <a:prstGeom prst="rect">
            <a:avLst/>
          </a:prstGeom>
          <a:solidFill>
            <a:srgbClr val="F3EEFB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2286000" y="2816352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3657600" y="2816352"/>
            <a:ext cx="1371600" cy="402336"/>
          </a:xfrm>
          <a:prstGeom prst="rect">
            <a:avLst/>
          </a:prstGeom>
          <a:solidFill>
            <a:srgbClr val="F3EEFB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3657600" y="2816352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5029200" y="2816352"/>
            <a:ext cx="1371600" cy="402336"/>
          </a:xfrm>
          <a:prstGeom prst="rect">
            <a:avLst/>
          </a:prstGeom>
          <a:solidFill>
            <a:srgbClr val="E8851A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029200" y="2816352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274320" y="3273552"/>
            <a:ext cx="20116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274320" y="327355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Prompt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2286000" y="3273552"/>
            <a:ext cx="1371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2286000" y="3273552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3657600" y="3273552"/>
            <a:ext cx="1371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3657600" y="3273552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5029200" y="3273552"/>
            <a:ext cx="1371600" cy="402336"/>
          </a:xfrm>
          <a:prstGeom prst="rect">
            <a:avLst/>
          </a:prstGeom>
          <a:solidFill>
            <a:srgbClr val="2E9B6F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029200" y="3273552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6400800" y="7498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Distribution</a:t>
            </a:r>
            <a:endParaRPr lang="en-US" sz="1300" dirty="0"/>
          </a:p>
        </p:txBody>
      </p:sp>
      <p:sp>
        <p:nvSpPr>
          <p:cNvPr id="55" name="Shape 52"/>
          <p:cNvSpPr/>
          <p:nvPr/>
        </p:nvSpPr>
        <p:spPr>
          <a:xfrm>
            <a:off x="6400800" y="1078992"/>
            <a:ext cx="777240" cy="530352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6400800" y="1078992"/>
            <a:ext cx="777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57" name="Text 54"/>
          <p:cNvSpPr/>
          <p:nvPr/>
        </p:nvSpPr>
        <p:spPr>
          <a:xfrm>
            <a:off x="7269480" y="109728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58" name="Text 55"/>
          <p:cNvSpPr/>
          <p:nvPr/>
        </p:nvSpPr>
        <p:spPr>
          <a:xfrm>
            <a:off x="7269480" y="1353312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Injection, Vector Embedding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6400800" y="1737360"/>
            <a:ext cx="777240" cy="530352"/>
          </a:xfrm>
          <a:prstGeom prst="rect">
            <a:avLst/>
          </a:prstGeom>
          <a:solidFill>
            <a:srgbClr val="E8851A"/>
          </a:solidFill>
          <a:ln w="12700">
            <a:solidFill>
              <a:srgbClr val="E8851A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6400800" y="1737360"/>
            <a:ext cx="777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1" name="Text 58"/>
          <p:cNvSpPr/>
          <p:nvPr/>
        </p:nvSpPr>
        <p:spPr>
          <a:xfrm>
            <a:off x="7269480" y="175564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8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62" name="Text 59"/>
          <p:cNvSpPr/>
          <p:nvPr/>
        </p:nvSpPr>
        <p:spPr>
          <a:xfrm>
            <a:off x="7269480" y="2011680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Attack</a:t>
            </a:r>
            <a:endParaRPr lang="en-US" sz="850" dirty="0"/>
          </a:p>
        </p:txBody>
      </p:sp>
      <p:sp>
        <p:nvSpPr>
          <p:cNvPr id="63" name="Shape 60"/>
          <p:cNvSpPr/>
          <p:nvPr/>
        </p:nvSpPr>
        <p:spPr>
          <a:xfrm>
            <a:off x="6400800" y="2395728"/>
            <a:ext cx="777240" cy="530352"/>
          </a:xfrm>
          <a:prstGeom prst="rect">
            <a:avLst/>
          </a:prstGeom>
          <a:solidFill>
            <a:srgbClr val="E8851A"/>
          </a:solidFill>
          <a:ln w="12700">
            <a:solidFill>
              <a:srgbClr val="E8851A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6400800" y="2395728"/>
            <a:ext cx="777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5" name="Text 62"/>
          <p:cNvSpPr/>
          <p:nvPr/>
        </p:nvSpPr>
        <p:spPr>
          <a:xfrm>
            <a:off x="7269480" y="241401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8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66" name="Text 63"/>
          <p:cNvSpPr/>
          <p:nvPr/>
        </p:nvSpPr>
        <p:spPr>
          <a:xfrm>
            <a:off x="7269480" y="2670048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Injection</a:t>
            </a:r>
            <a:endParaRPr lang="en-US" sz="850" dirty="0"/>
          </a:p>
        </p:txBody>
      </p:sp>
      <p:sp>
        <p:nvSpPr>
          <p:cNvPr id="67" name="Shape 64"/>
          <p:cNvSpPr/>
          <p:nvPr/>
        </p:nvSpPr>
        <p:spPr>
          <a:xfrm>
            <a:off x="6400800" y="3054096"/>
            <a:ext cx="777240" cy="530352"/>
          </a:xfrm>
          <a:prstGeom prst="rect">
            <a:avLst/>
          </a:prstGeom>
          <a:solidFill>
            <a:srgbClr val="2E9B6F"/>
          </a:solidFill>
          <a:ln w="12700">
            <a:solidFill>
              <a:srgbClr val="2E9B6F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6400800" y="3054096"/>
            <a:ext cx="777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9" name="Text 66"/>
          <p:cNvSpPr/>
          <p:nvPr/>
        </p:nvSpPr>
        <p:spPr>
          <a:xfrm>
            <a:off x="7269480" y="307238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9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70" name="Text 67"/>
          <p:cNvSpPr/>
          <p:nvPr/>
        </p:nvSpPr>
        <p:spPr>
          <a:xfrm>
            <a:off x="7269480" y="3328416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Prompt</a:t>
            </a:r>
            <a:endParaRPr lang="en-US" sz="850" dirty="0"/>
          </a:p>
        </p:txBody>
      </p:sp>
      <p:sp>
        <p:nvSpPr>
          <p:cNvPr id="71" name="Shape 68"/>
          <p:cNvSpPr/>
          <p:nvPr/>
        </p:nvSpPr>
        <p:spPr>
          <a:xfrm>
            <a:off x="274320" y="4005072"/>
            <a:ext cx="8686800" cy="804672"/>
          </a:xfrm>
          <a:prstGeom prst="rect">
            <a:avLst/>
          </a:prstGeom>
          <a:solidFill>
            <a:srgbClr val="6C3D91"/>
          </a:solidFill>
          <a:ln w="12700">
            <a:solidFill>
              <a:srgbClr val="6C3D91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274320" y="4005072"/>
            <a:ext cx="8686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Risk Posture: HIGH  |  Total Payloads: 235  |  Successful Bypasses: 174  |  Bypass Rate: 74.0%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C3D91"/>
          </a:solidFill>
          <a:ln w="12700">
            <a:solidFill>
              <a:srgbClr val="6C3D91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09728"/>
            <a:ext cx="1737360" cy="6492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Evaluation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Multi-Metric Scoring System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74320" y="1115568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1115568"/>
            <a:ext cx="64008" cy="594360"/>
          </a:xfrm>
          <a:prstGeom prst="rect">
            <a:avLst/>
          </a:prstGeom>
          <a:solidFill>
            <a:srgbClr val="6C3D91"/>
          </a:solidFill>
          <a:ln w="12700">
            <a:solidFill>
              <a:srgbClr val="6C3D9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188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063240" y="1207008"/>
            <a:ext cx="18288" cy="384048"/>
          </a:xfrm>
          <a:prstGeom prst="rect">
            <a:avLst/>
          </a:prstGeom>
          <a:solidFill>
            <a:srgbClr val="E8D5F7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154680" y="1207008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combination of vulnerability indicators across all test sub-techniques — 0 to 100 scale per module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74320" y="1828800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74320" y="1828800"/>
            <a:ext cx="64008" cy="594360"/>
          </a:xfrm>
          <a:prstGeom prst="rect">
            <a:avLst/>
          </a:prstGeom>
          <a:solidFill>
            <a:srgbClr val="6C3D91"/>
          </a:solidFill>
          <a:ln w="12700">
            <a:solidFill>
              <a:srgbClr val="6C3D9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190195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Calculation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063240" y="1920240"/>
            <a:ext cx="18288" cy="384048"/>
          </a:xfrm>
          <a:prstGeom prst="rect">
            <a:avLst/>
          </a:prstGeom>
          <a:solidFill>
            <a:srgbClr val="E8D5F7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154680" y="1920240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confidence in the detected vulnerability based on evidence consistency — HIGH / MEDIUM / LOW classification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74320" y="2542032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74320" y="2542032"/>
            <a:ext cx="64008" cy="594360"/>
          </a:xfrm>
          <a:prstGeom prst="rect">
            <a:avLst/>
          </a:prstGeom>
          <a:solidFill>
            <a:srgbClr val="6C3D91"/>
          </a:solidFill>
          <a:ln w="12700">
            <a:solidFill>
              <a:srgbClr val="6C3D9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2615184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Classification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063240" y="2633472"/>
            <a:ext cx="18288" cy="384048"/>
          </a:xfrm>
          <a:prstGeom prst="rect">
            <a:avLst/>
          </a:prstGeom>
          <a:solidFill>
            <a:srgbClr val="E8D5F7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154680" y="2633472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/ HIGH / MEDIUM / LOW rating based on impact potential, exploitability, and evidence quality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274320" y="3255264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74320" y="3255264"/>
            <a:ext cx="64008" cy="594360"/>
          </a:xfrm>
          <a:prstGeom prst="rect">
            <a:avLst/>
          </a:prstGeom>
          <a:solidFill>
            <a:srgbClr val="6C3D91"/>
          </a:solidFill>
          <a:ln w="12700">
            <a:solidFill>
              <a:srgbClr val="6C3D9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3328416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Report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063240" y="3346704"/>
            <a:ext cx="18288" cy="384048"/>
          </a:xfrm>
          <a:prstGeom prst="rect">
            <a:avLst/>
          </a:prstGeom>
          <a:solidFill>
            <a:srgbClr val="E8D5F7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154680" y="3346704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comprehensive report in JSON, TXT, and HTML formats with full evidence chain and remediation guidance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57200" y="4069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 Trends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457200" y="438912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D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Prompt-level controls are the weakest layer — 77% bypass rate is insufficient for production deployment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D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pipelines present systemic risk — 81.5% embedding attack success with zero detection mechanism present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D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controls inconsistently enforced — rate limiting and token management gaps expose cost and service disruption risks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C3D91"/>
          </a:solidFill>
          <a:ln w="12700">
            <a:solidFill>
              <a:srgbClr val="6C3D91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09728"/>
            <a:ext cx="1737360" cy="6492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822960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822960"/>
            <a:ext cx="594360" cy="1261872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822960"/>
            <a:ext cx="59436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60120" y="9601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Separation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60120" y="1261872"/>
            <a:ext cx="33832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D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strict separation between system prompt and user input using structured message formatting at the architectural level.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63440" y="822960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822960"/>
            <a:ext cx="594360" cy="1261872"/>
          </a:xfrm>
          <a:prstGeom prst="rect">
            <a:avLst/>
          </a:prstGeom>
          <a:solidFill>
            <a:srgbClr val="E8851A"/>
          </a:solidFill>
          <a:ln w="12700">
            <a:solidFill>
              <a:srgbClr val="E8851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63440" y="822960"/>
            <a:ext cx="59436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349240" y="9601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Filtering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349240" y="1261872"/>
            <a:ext cx="33832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D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output filtering to detect and block responses that contain system prompt fragments or sensitive configuration data.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74320" y="2212848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74320" y="2212848"/>
            <a:ext cx="594360" cy="1261872"/>
          </a:xfrm>
          <a:prstGeom prst="rect">
            <a:avLst/>
          </a:prstGeom>
          <a:solidFill>
            <a:srgbClr val="6C3D91"/>
          </a:solidFill>
          <a:ln w="12700">
            <a:solidFill>
              <a:srgbClr val="6C3D9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74320" y="2212848"/>
            <a:ext cx="59436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960120" y="235000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Detection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60120" y="2651760"/>
            <a:ext cx="33832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D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dedicated prompt injection classifier that evaluates all inputs before they reach the LLM model.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663440" y="2212848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663440" y="2212848"/>
            <a:ext cx="594360" cy="1261872"/>
          </a:xfrm>
          <a:prstGeom prst="rect">
            <a:avLst/>
          </a:prstGeom>
          <a:solidFill>
            <a:srgbClr val="9B72C4"/>
          </a:solidFill>
          <a:ln w="12700">
            <a:solidFill>
              <a:srgbClr val="9B72C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663440" y="2212848"/>
            <a:ext cx="59436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5349240" y="235000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Delimiters &amp; Escaping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349240" y="2651760"/>
            <a:ext cx="33832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D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prompt delimiters and escaping mechanisms to prevent delimiter-based injection across all input surfaces.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274320" y="3602736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274320" y="3602736"/>
            <a:ext cx="594360" cy="1261872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74320" y="3602736"/>
            <a:ext cx="59436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960120" y="373989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Red-Teaming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960120" y="4041648"/>
            <a:ext cx="33832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D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red-team the system prompt with updated payload templates as attack techniques evolve.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663440" y="3602736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663440" y="3602736"/>
            <a:ext cx="594360" cy="1261872"/>
          </a:xfrm>
          <a:prstGeom prst="rect">
            <a:avLst/>
          </a:prstGeom>
          <a:solidFill>
            <a:srgbClr val="2E9B6F"/>
          </a:solidFill>
          <a:ln w="12700">
            <a:solidFill>
              <a:srgbClr val="2E9B6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663440" y="3602736"/>
            <a:ext cx="59436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5349240" y="373989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on Attack Examples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349240" y="4041648"/>
            <a:ext cx="33832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D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the model on prompt injection examples to improve resistance against known and emerging attack patterns.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9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C3D91"/>
          </a:solidFill>
          <a:ln w="12700">
            <a:solidFill>
              <a:srgbClr val="6C3D91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09728"/>
            <a:ext cx="1737360" cy="6492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777240"/>
            <a:ext cx="8595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" y="777240"/>
            <a:ext cx="64008" cy="1508760"/>
          </a:xfrm>
          <a:prstGeom prst="rect">
            <a:avLst/>
          </a:prstGeom>
          <a:solidFill>
            <a:srgbClr val="6C3D91"/>
          </a:solidFill>
          <a:ln w="12700">
            <a:solidFill>
              <a:srgbClr val="6C3D9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1143000"/>
            <a:ext cx="8321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D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successfully designed, implemented, and validated a modular, automated LLM Security Testing Framework across five distinct vulnerability classes. With a 74% bypass rate across 235 payloads and two CRITICAL findings, the results underscore the urgent need for AI-specific security testing as a standard part of the software development lifecycle.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D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systems deployed without dedicated security controls are highly susceptible to adversarial exploitation — this framework provides practical, reproducible evidence of that risk.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23957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65760" y="2743200"/>
            <a:ext cx="42062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D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payload library with many-shot jailbreaking and indirect prompt injection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D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automated payload generation using adversarial ML techniques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D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support for fine-tuned and locally deployed open-source LLMs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D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steganographic detection capabilities for image injection testing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754880" y="2743200"/>
            <a:ext cx="42062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D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continuous monitoring mode for production LLM deployments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D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support multi-turn conversational attack sequences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D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as an open-source tool for the AI security research community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9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C3D91"/>
          </a:solidFill>
          <a:ln w="12700">
            <a:solidFill>
              <a:srgbClr val="6C3D9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E8D5F7">
              <a:alpha val="60000"/>
            </a:srgbClr>
          </a:solidFill>
          <a:ln w="12700">
            <a:solidFill>
              <a:srgbClr val="E8D5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914400"/>
            <a:ext cx="3200400" cy="3200400"/>
          </a:xfrm>
          <a:prstGeom prst="ellipse">
            <a:avLst/>
          </a:prstGeom>
          <a:solidFill>
            <a:srgbClr val="E8D5F7">
              <a:alpha val="60000"/>
            </a:srgbClr>
          </a:solidFill>
          <a:ln w="12700">
            <a:solidFill>
              <a:srgbClr val="E8D5F7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09728"/>
            <a:ext cx="1737360" cy="6492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2801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6C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7" name="Shape 4"/>
          <p:cNvSpPr/>
          <p:nvPr/>
        </p:nvSpPr>
        <p:spPr>
          <a:xfrm>
            <a:off x="3200400" y="2450592"/>
            <a:ext cx="2743200" cy="45720"/>
          </a:xfrm>
          <a:prstGeom prst="rect">
            <a:avLst/>
          </a:prstGeom>
          <a:solidFill>
            <a:srgbClr val="9B72C4"/>
          </a:solidFill>
          <a:ln w="12700">
            <a:solidFill>
              <a:srgbClr val="9B72C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260604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B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Security Testing Framework — AI/LLM Attack Surface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286000" y="310896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Soumika Addala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CH.SC.U4CYS23002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Vikas Samudrala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CH.SC.U4CYS230042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4400" y="44074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B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Amrita Vishwa Vidyapeetham  ·  Cybersecurity  ·  AI Red Teaming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6C3D91"/>
          </a:solidFill>
          <a:ln w="12700">
            <a:solidFill>
              <a:srgbClr val="6C3D9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queries, reach out to the project team — Amrita Vishwa Vidyapeetham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Security Testing Framework</dc:title>
  <dc:subject>PptxGenJS Presentation</dc:subject>
  <dc:creator>Soumika Addala</dc:creator>
  <cp:lastModifiedBy>Soumika Addala</cp:lastModifiedBy>
  <cp:revision>1</cp:revision>
  <dcterms:created xsi:type="dcterms:W3CDTF">2026-03-28T08:50:36Z</dcterms:created>
  <dcterms:modified xsi:type="dcterms:W3CDTF">2026-03-28T08:50:36Z</dcterms:modified>
</cp:coreProperties>
</file>